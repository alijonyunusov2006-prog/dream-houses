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8b88a489-7076-97a8-7924-09e565175e00}">
          <p14:sldIdLst>
            <p14:sldId id="256"/>
            <p14:sldId id="257"/>
          </p14:sldIdLst>
        </p14:section>
        <p14:section name="Государство и история" id="{46122618-ee4c-f39a-9447-9a6e36ae9c1c}">
          <p14:sldIdLst>
            <p14:sldId id="258"/>
            <p14:sldId id="259"/>
          </p14:sldIdLst>
        </p14:section>
        <p14:section name="Природа" id="{5877b29d-c94a-4742-eb98-8b0c45aa1b33}">
          <p14:sldIdLst>
            <p14:sldId id="260"/>
          </p14:sldIdLst>
        </p14:section>
        <p14:section name="Культура и традиции" id="{edc99f5c-70c2-e589-4653-e1937bc784ed}">
          <p14:sldIdLst>
            <p14:sldId id="261"/>
            <p14:sldId id="262"/>
            <p14:sldId id="263"/>
            <p14:sldId id="264"/>
          </p14:sldIdLst>
        </p14:section>
        <p14:section name="Наследие" id="{1b4f6bc1-d054-19d9-ecd0-21e2ae12a812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Сегодня я расскажу о Таджикистане — горной стране в сердце Центральной Азии с тысячелетней историей, богатой культурой и гостеприимным народом.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Таджикистан — небольшая, но очень горная страна: 93% её территории занимают горы. Столица — Душанбе. Государственный язык — таджикский, национальная валюта — сомони, названная в честь Исмоила Сомони. Независимость получена 9 сентября 1991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Флаг Таджикистана состоит из трёх полос: красной, белой и зелёной. В центре — золотая корона и семь звёзд. Красный цвет символизирует солнце и единство, белый — чистоту и хлопок, зелёный — природу. День флага отмечается 24 ноября.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История таджикского народа насчитывает тысячи лет: от протогорода Саразм и древнего Согда до государства Саманидов, которое считается первым государством таджиков. В 1991 году Таджикистан стал независимым, а в 1997 году было подписано соглашение о мире — с тех пор 27 июня отмечается День национального единства.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Таджикистан называют страной гор. Памир — «крыша мира». Здесь находится пик Исмоила Сомони высотой 7495 метров и ледник Федченко длиной около 77 км. Горные реки и ледники Таджикистана — главный источник воды для всей Центральной Азии.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Национальная одежда таджиков яркая и символичная. Женщины носят платья куртаи чакан с богатой вышивкой и шаровары, мужчины — халаты джома, тюбетейки токи и пояс-платок. Ткани атлас и адрас ткутся из шёлка и хлопка.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Таджикская кухня — сытная и гостеприимная. Оши палав — плов — внесён ЮНЕСКО в список нематериального наследия. Курутоб считается национальным блюдом. К столу всегда подают лепёшку и зелёный чай — гостя в Таджикистане никогда не отпустят без угощения.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любимый праздник таджиков — Навруз, праздник весны и Нового года. Его отмечают с 21 по 24 марта: готовят сумалак, проводят народные игры. Также важны День независимости 9 сентября, День национального единства 27 июня и древние праздники Мехргон и Сада.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Таджикская музыка — это классический Шашмаком, народные песни фалак и инструменты рубоб, дутор и дойра. Ремёсла — вышивка сюзане и чакан, резьба по дереву, чеканка и керамика — передаются из поколения в поколение.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Таджикский народ подарил миру великих людей: поэта Рудаки — отца персидско-таджикской поэзии, Исмоила Сомони — основателя государства Саманидов, учёного и врача Абу Али ибн Сино (Авиценну), писателя Садриддина Айни и поэта Мирзо Турсунзаде.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Таджикистане много удивительных мест: древний Саразм и Таджикский национальный парк включены в список ЮНЕСКО, Гиссарская крепость, бирюзовое озеро Искандеркуль, Нурекская ГЭС и современный Душанбе с одним из самых высоких флагштоков в мире.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Таджикистан — страна солнца, гор и добрых людей. Ташаккур барои диққат —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Таджикистан · Тоҷикистон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rge ros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822960"/>
            <a:ext cx="5303520" cy="5303520"/>
          </a:xfrm>
          <a:prstGeom prst="rect">
            <a:avLst/>
          </a:prstGeom>
        </p:spPr>
      </p:pic>
      <p:pic>
        <p:nvPicPr>
          <p:cNvPr id="3" name="Flag of Tajikistan" descr="Флаг Республики Таджикиста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1645920" cy="8229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1031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ТАДЖИКИСТАН</a:t>
            </a:r>
            <a:endParaRPr lang="en-US" sz="50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3246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Тоҷикистон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4069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Страна гор, солнца и древней культуры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История · Символы · Природа · Одежда · Кухня · Праздники · Искусство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Таджикистан в цифрах</a:t>
            </a:r>
            <a:endParaRPr lang="en-US" sz="3600" dirty="0"/>
          </a:p>
        </p:txBody>
      </p:sp>
      <p:pic>
        <p:nvPicPr>
          <p:cNvPr id="3" name="Ros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411480"/>
            <a:ext cx="731520" cy="731520"/>
          </a:xfrm>
          <a:prstGeom prst="rect">
            <a:avLst/>
          </a:prstGeom>
        </p:spPr>
      </p:pic>
      <p:sp>
        <p:nvSpPr>
          <p:cNvPr id="4" name="Fact card 1"/>
          <p:cNvSpPr/>
          <p:nvPr/>
        </p:nvSpPr>
        <p:spPr>
          <a:xfrm>
            <a:off x="548640" y="1508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act icon circle 1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act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90195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Душанбе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Столица — в переводе «понедельник»: здесь проходил базар</a:t>
            </a:r>
            <a:endParaRPr lang="en-US" sz="1200" dirty="0"/>
          </a:p>
        </p:txBody>
      </p:sp>
      <p:sp>
        <p:nvSpPr>
          <p:cNvPr id="9" name="Fact card 2"/>
          <p:cNvSpPr/>
          <p:nvPr/>
        </p:nvSpPr>
        <p:spPr>
          <a:xfrm>
            <a:off x="4297680" y="1508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act icon circle 2"/>
          <p:cNvSpPr/>
          <p:nvPr/>
        </p:nvSpPr>
        <p:spPr>
          <a:xfrm>
            <a:off x="457200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Fact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90195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142,6 тыс. км²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Площадь страны в Центральной Азии</a:t>
            </a:r>
            <a:endParaRPr lang="en-US" sz="1200" dirty="0"/>
          </a:p>
        </p:txBody>
      </p:sp>
      <p:sp>
        <p:nvSpPr>
          <p:cNvPr id="14" name="Fact card 3"/>
          <p:cNvSpPr/>
          <p:nvPr/>
        </p:nvSpPr>
        <p:spPr>
          <a:xfrm>
            <a:off x="8046720" y="1508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Fact icon circle 3"/>
          <p:cNvSpPr/>
          <p:nvPr/>
        </p:nvSpPr>
        <p:spPr>
          <a:xfrm>
            <a:off x="832104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Fact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1901952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2104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 млн</a:t>
            </a:r>
            <a:endParaRPr lang="en-US" sz="28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Население — один из самых молодых народов региона</a:t>
            </a:r>
            <a:endParaRPr lang="en-US" sz="1200" dirty="0"/>
          </a:p>
        </p:txBody>
      </p:sp>
      <p:sp>
        <p:nvSpPr>
          <p:cNvPr id="19" name="Fact card 4"/>
          <p:cNvSpPr/>
          <p:nvPr/>
        </p:nvSpPr>
        <p:spPr>
          <a:xfrm>
            <a:off x="548640" y="38862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act icon circle 4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Fact 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27939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2296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93 %</a:t>
            </a:r>
            <a:endParaRPr lang="en-US" sz="28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5349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Территории занимают горы Памира, Тянь-Шаня и Гиссара</a:t>
            </a:r>
            <a:endParaRPr lang="en-US" sz="1200" dirty="0"/>
          </a:p>
        </p:txBody>
      </p:sp>
      <p:sp>
        <p:nvSpPr>
          <p:cNvPr id="24" name="Fact card 5"/>
          <p:cNvSpPr/>
          <p:nvPr/>
        </p:nvSpPr>
        <p:spPr>
          <a:xfrm>
            <a:off x="4297680" y="38862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Fact icon circle 5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Fact icon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4279392"/>
            <a:ext cx="402336" cy="4023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57200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Тоҷикӣ</a:t>
            </a:r>
            <a:endParaRPr lang="en-US" sz="28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0" y="5349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Государственный язык — таджикский (персидская группа)</a:t>
            </a:r>
            <a:endParaRPr lang="en-US" sz="1200" dirty="0"/>
          </a:p>
        </p:txBody>
      </p:sp>
      <p:sp>
        <p:nvSpPr>
          <p:cNvPr id="29" name="Fact card 6"/>
          <p:cNvSpPr/>
          <p:nvPr/>
        </p:nvSpPr>
        <p:spPr>
          <a:xfrm>
            <a:off x="8046720" y="38862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Fact icon circle 6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Fact icon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912" y="4279392"/>
            <a:ext cx="402336" cy="40233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32104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Сомони</a:t>
            </a:r>
            <a:endParaRPr lang="en-US" sz="2800" dirty="0"/>
          </a:p>
        </p:txBody>
      </p:sp>
      <p:sp>
        <p:nvSpPr>
          <p:cNvPr id="33" name="Text 24"/>
          <p:cNvSpPr txBox="1"/>
          <p:nvPr/>
        </p:nvSpPr>
        <p:spPr>
          <a:xfrm>
            <a:off x="8321040" y="5349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Национальная валюта с 2000 года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Государственные символы</a:t>
            </a:r>
            <a:endParaRPr lang="en-US" sz="3600" dirty="0"/>
          </a:p>
        </p:txBody>
      </p:sp>
      <p:pic>
        <p:nvPicPr>
          <p:cNvPr id="3" name="Ros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411480"/>
            <a:ext cx="731520" cy="731520"/>
          </a:xfrm>
          <a:prstGeom prst="rect">
            <a:avLst/>
          </a:prstGeom>
        </p:spPr>
      </p:pic>
      <p:sp>
        <p:nvSpPr>
          <p:cNvPr id="4" name="Flag frame"/>
          <p:cNvSpPr/>
          <p:nvPr/>
        </p:nvSpPr>
        <p:spPr>
          <a:xfrm>
            <a:off x="548640" y="1600200"/>
            <a:ext cx="54864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Flag of Tajikistan" descr="Флаг Республики Таджикиста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486400" cy="2743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6177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Флаг принят 24 ноября 1992 года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Гимн «Суруди миллӣ» — с 1994 года; на гербе — корона, солнце над горами, колосья пшеницы и хлопок</a:t>
            </a:r>
            <a:endParaRPr lang="en-US" sz="1400" dirty="0"/>
          </a:p>
        </p:txBody>
      </p:sp>
      <p:sp>
        <p:nvSpPr>
          <p:cNvPr id="7" name="Swatch Красный"/>
          <p:cNvSpPr/>
          <p:nvPr/>
        </p:nvSpPr>
        <p:spPr>
          <a:xfrm>
            <a:off x="6675120" y="169164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543800" y="1600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Красный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54380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Солнце, победа и единство народа</a:t>
            </a:r>
            <a:endParaRPr lang="en-US" sz="1400" dirty="0"/>
          </a:p>
        </p:txBody>
      </p:sp>
      <p:sp>
        <p:nvSpPr>
          <p:cNvPr id="10" name="Swatch Белый"/>
          <p:cNvSpPr/>
          <p:nvPr/>
        </p:nvSpPr>
        <p:spPr>
          <a:xfrm>
            <a:off x="6675120" y="27889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543800" y="2697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Белый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543800" y="3108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Чистота помыслов и хлопок — «белое золото»</a:t>
            </a:r>
            <a:endParaRPr lang="en-US" sz="1400" dirty="0"/>
          </a:p>
        </p:txBody>
      </p:sp>
      <p:sp>
        <p:nvSpPr>
          <p:cNvPr id="13" name="Swatch Зелёный"/>
          <p:cNvSpPr/>
          <p:nvPr/>
        </p:nvSpPr>
        <p:spPr>
          <a:xfrm>
            <a:off x="6675120" y="3886200"/>
            <a:ext cx="640080" cy="640080"/>
          </a:xfrm>
          <a:prstGeom prst="ellipse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543800" y="3794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Зелёный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54380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Плодородные долины и щедрая природа</a:t>
            </a:r>
            <a:endParaRPr lang="en-US" sz="1400" dirty="0"/>
          </a:p>
        </p:txBody>
      </p:sp>
      <p:sp>
        <p:nvSpPr>
          <p:cNvPr id="16" name="Swatch Корона и 7 звёзд"/>
          <p:cNvSpPr/>
          <p:nvPr/>
        </p:nvSpPr>
        <p:spPr>
          <a:xfrm>
            <a:off x="6675120" y="4983480"/>
            <a:ext cx="640080" cy="640080"/>
          </a:xfrm>
          <a:prstGeom prst="ellipse">
            <a:avLst/>
          </a:prstGeom>
          <a:solidFill>
            <a:srgbClr val="F8C300"/>
          </a:solidFill>
          <a:ln w="12700">
            <a:solidFill>
              <a:srgbClr val="F8C30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543800" y="4892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Корона и 7 звёзд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754380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Суверенитет страны и дружба всех её народов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Путь сквозь тысячелетия</a:t>
            </a:r>
            <a:endParaRPr lang="en-US" sz="3600" dirty="0"/>
          </a:p>
        </p:txBody>
      </p:sp>
      <p:pic>
        <p:nvPicPr>
          <p:cNvPr id="3" name="Ros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411480"/>
            <a:ext cx="731520" cy="731520"/>
          </a:xfrm>
          <a:prstGeom prst="rect">
            <a:avLst/>
          </a:prstGeom>
        </p:spPr>
      </p:pic>
      <p:sp>
        <p:nvSpPr>
          <p:cNvPr id="4" name="Timeline"/>
          <p:cNvSpPr/>
          <p:nvPr/>
        </p:nvSpPr>
        <p:spPr>
          <a:xfrm>
            <a:off x="822960" y="3657600"/>
            <a:ext cx="1060704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Timeline dot 1"/>
          <p:cNvSpPr/>
          <p:nvPr/>
        </p:nvSpPr>
        <p:spPr>
          <a:xfrm>
            <a:off x="640080" y="3474720"/>
            <a:ext cx="365760" cy="3657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IV тыс. до н. э.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Саразм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40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Древнейший протогород Центральной Азии</a:t>
            </a:r>
            <a:endParaRPr lang="en-US" sz="1200" dirty="0"/>
          </a:p>
        </p:txBody>
      </p:sp>
      <p:sp>
        <p:nvSpPr>
          <p:cNvPr id="9" name="Timeline dot 2"/>
          <p:cNvSpPr/>
          <p:nvPr/>
        </p:nvSpPr>
        <p:spPr>
          <a:xfrm>
            <a:off x="2761488" y="3474720"/>
            <a:ext cx="365760" cy="36576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38528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VI–IV вв. до н. э.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938528" y="4389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Согд и Бактрия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938528" y="48463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Земли предков таджиков на Великом шёлковом пути</a:t>
            </a:r>
            <a:endParaRPr lang="en-US" sz="1200" dirty="0"/>
          </a:p>
        </p:txBody>
      </p:sp>
      <p:sp>
        <p:nvSpPr>
          <p:cNvPr id="13" name="Timeline dot 3"/>
          <p:cNvSpPr/>
          <p:nvPr/>
        </p:nvSpPr>
        <p:spPr>
          <a:xfrm>
            <a:off x="4882896" y="3474720"/>
            <a:ext cx="365760" cy="3657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59936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819–999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059936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Саманиды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059936" y="2240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Первое государство таджиков, столица — Бухара; Исмоил Сомони</a:t>
            </a:r>
            <a:endParaRPr lang="en-US" sz="1200" dirty="0"/>
          </a:p>
        </p:txBody>
      </p:sp>
      <p:sp>
        <p:nvSpPr>
          <p:cNvPr id="17" name="Timeline dot 4"/>
          <p:cNvSpPr/>
          <p:nvPr/>
        </p:nvSpPr>
        <p:spPr>
          <a:xfrm>
            <a:off x="7004304" y="3474720"/>
            <a:ext cx="365760" cy="36576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81344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1929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181344" y="4389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Таджикская ССР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181344" y="48463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Образование союзной республики</a:t>
            </a:r>
            <a:endParaRPr lang="en-US" sz="1200" dirty="0"/>
          </a:p>
        </p:txBody>
      </p:sp>
      <p:sp>
        <p:nvSpPr>
          <p:cNvPr id="21" name="Timeline dot 5"/>
          <p:cNvSpPr/>
          <p:nvPr/>
        </p:nvSpPr>
        <p:spPr>
          <a:xfrm>
            <a:off x="9125712" y="3474720"/>
            <a:ext cx="365760" cy="3657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02752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9.09.1991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02752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Независимость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302752" y="2240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Провозглашение суверенного государства</a:t>
            </a:r>
            <a:endParaRPr lang="en-US" sz="1200" dirty="0"/>
          </a:p>
        </p:txBody>
      </p:sp>
      <p:sp>
        <p:nvSpPr>
          <p:cNvPr id="25" name="Timeline dot 6"/>
          <p:cNvSpPr/>
          <p:nvPr/>
        </p:nvSpPr>
        <p:spPr>
          <a:xfrm>
            <a:off x="11247120" y="3474720"/>
            <a:ext cx="365760" cy="36576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722815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27.06.1997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722815" y="4389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Мир и единство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722815" y="48463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Общее соглашение о мире — День национального единства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untains illustration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Крыша мира — Памир</a:t>
            </a:r>
            <a:endParaRPr lang="en-US" sz="3600" dirty="0"/>
          </a:p>
        </p:txBody>
      </p:sp>
      <p:pic>
        <p:nvPicPr>
          <p:cNvPr id="4" name="Rosett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411480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7 495 м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560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пик Исмоила Сомони — высшая точка страны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29768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км</a:t>
            </a:r>
            <a:endParaRPr lang="en-US" sz="5400" dirty="0"/>
          </a:p>
        </p:txBody>
      </p:sp>
      <p:sp>
        <p:nvSpPr>
          <p:cNvPr id="8" name="Text 4"/>
          <p:cNvSpPr txBox="1"/>
          <p:nvPr/>
        </p:nvSpPr>
        <p:spPr>
          <a:xfrm>
            <a:off x="4297680" y="2560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ледник Федченко — один из длиннейших горных ледников мира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60 %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2560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водных ресурсов Центральной Азии формируются здесь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703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Озёра Искандеркуль, Сарез и Каракуль · реки Пяндж, Вахш, Зеравшан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Национальная одежда</a:t>
            </a:r>
            <a:endParaRPr lang="en-US" sz="3600" dirty="0"/>
          </a:p>
        </p:txBody>
      </p:sp>
      <p:pic>
        <p:nvPicPr>
          <p:cNvPr id="3" name="Ros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411480"/>
            <a:ext cx="731520" cy="731520"/>
          </a:xfrm>
          <a:prstGeom prst="rect">
            <a:avLst/>
          </a:prstGeom>
        </p:spPr>
      </p:pic>
      <p:sp>
        <p:nvSpPr>
          <p:cNvPr id="4" name="Card Куртаи чакан"/>
          <p:cNvSpPr/>
          <p:nvPr/>
        </p:nvSpPr>
        <p:spPr>
          <a:xfrm>
            <a:off x="548640" y="146304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Куртаи чакан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Куртаи чакан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7373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Куртаи чакан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5603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Женское платье с ручной вышивкой «чакан» — узор передаётся от матери к дочери. Ремесло внесено в список ЮНЕСКО (2018)</a:t>
            </a:r>
            <a:endParaRPr lang="en-US" sz="1400" dirty="0"/>
          </a:p>
        </p:txBody>
      </p:sp>
      <p:sp>
        <p:nvSpPr>
          <p:cNvPr id="9" name="Card Тоқӣ — тюбетейка"/>
          <p:cNvSpPr/>
          <p:nvPr/>
        </p:nvSpPr>
        <p:spPr>
          <a:xfrm>
            <a:off x="6172200" y="146304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Тоқӣ — тюбетейка"/>
          <p:cNvSpPr/>
          <p:nvPr/>
        </p:nvSpPr>
        <p:spPr>
          <a:xfrm>
            <a:off x="644652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 Тоқӣ — тюбетей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7452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15200" y="17373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Тоқӣ — тюбетейка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6446520" y="25603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Расшитый головной убор. Узоры подсказывают, из какого региона его хозяин: Куляб, Ура-Тюбе, Памир</a:t>
            </a:r>
            <a:endParaRPr lang="en-US" sz="1400" dirty="0"/>
          </a:p>
        </p:txBody>
      </p:sp>
      <p:sp>
        <p:nvSpPr>
          <p:cNvPr id="14" name="Card Ҷома — халат"/>
          <p:cNvSpPr/>
          <p:nvPr/>
        </p:nvSpPr>
        <p:spPr>
          <a:xfrm>
            <a:off x="548640" y="38862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Ҷома — халат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 Ҷома — халат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976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91640" y="4160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Ҷома — халат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22960" y="4983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Стёганый мужской халат из полосатой ткани, его носят в праздники и дарят почётным гостям</a:t>
            </a:r>
            <a:endParaRPr lang="en-US" sz="1400" dirty="0"/>
          </a:p>
        </p:txBody>
      </p:sp>
      <p:sp>
        <p:nvSpPr>
          <p:cNvPr id="19" name="Card Атлас и адрас"/>
          <p:cNvSpPr/>
          <p:nvPr/>
        </p:nvSpPr>
        <p:spPr>
          <a:xfrm>
            <a:off x="6172200" y="38862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 Атлас и адрас"/>
          <p:cNvSpPr/>
          <p:nvPr/>
        </p:nvSpPr>
        <p:spPr>
          <a:xfrm>
            <a:off x="644652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 Атлас и адрас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2976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315200" y="4160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Атлас и адрас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6446520" y="4983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Шёлковые ткани с переливами «абр» — главные цвета праздничного наряда; мужчины подпоясываются платком «миёнбанд»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Национальная кухня</a:t>
            </a:r>
            <a:endParaRPr lang="en-US" sz="3600" dirty="0"/>
          </a:p>
        </p:txBody>
      </p:sp>
      <p:pic>
        <p:nvPicPr>
          <p:cNvPr id="3" name="Ros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411480"/>
            <a:ext cx="731520" cy="731520"/>
          </a:xfrm>
          <a:prstGeom prst="rect">
            <a:avLst/>
          </a:prstGeom>
        </p:spPr>
      </p:pic>
      <p:sp>
        <p:nvSpPr>
          <p:cNvPr id="4" name="Card Оши палав"/>
          <p:cNvSpPr/>
          <p:nvPr/>
        </p:nvSpPr>
        <p:spPr>
          <a:xfrm>
            <a:off x="54864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Оши палав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Оши палав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737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 палав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Царь стола — плов. С 2016 года традиция внесена в список ЮНЕСКО</a:t>
            </a:r>
            <a:endParaRPr lang="en-US" sz="1400" dirty="0"/>
          </a:p>
        </p:txBody>
      </p:sp>
      <p:sp>
        <p:nvSpPr>
          <p:cNvPr id="9" name="Card Қурутоб"/>
          <p:cNvSpPr/>
          <p:nvPr/>
        </p:nvSpPr>
        <p:spPr>
          <a:xfrm>
            <a:off x="429768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Қурутоб"/>
          <p:cNvSpPr/>
          <p:nvPr/>
        </p:nvSpPr>
        <p:spPr>
          <a:xfrm>
            <a:off x="457200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 Қурутоб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7452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737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Қурутоб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Национальное блюдо: лепёшка, курут, лук и зелень — едят руками из общего табака</a:t>
            </a:r>
            <a:endParaRPr lang="en-US" sz="1400" dirty="0"/>
          </a:p>
        </p:txBody>
      </p:sp>
      <p:sp>
        <p:nvSpPr>
          <p:cNvPr id="14" name="Card Самбӯса"/>
          <p:cNvSpPr/>
          <p:nvPr/>
        </p:nvSpPr>
        <p:spPr>
          <a:xfrm>
            <a:off x="804672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Самбӯса"/>
          <p:cNvSpPr/>
          <p:nvPr/>
        </p:nvSpPr>
        <p:spPr>
          <a:xfrm>
            <a:off x="83210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Самбӯс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8745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89720" y="1737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Самбӯса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Слоёные пирожки с мясом, запечённые в тандыре</a:t>
            </a:r>
            <a:endParaRPr lang="en-US" sz="1400" dirty="0"/>
          </a:p>
        </p:txBody>
      </p:sp>
      <p:sp>
        <p:nvSpPr>
          <p:cNvPr id="19" name="Card Шӯрбо"/>
          <p:cNvSpPr/>
          <p:nvPr/>
        </p:nvSpPr>
        <p:spPr>
          <a:xfrm>
            <a:off x="548640" y="38862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 Шӯрбо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 Шӯрбо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976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91640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Шӯрбо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49834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Наваристый суп из баранины с овощами и нутом</a:t>
            </a:r>
            <a:endParaRPr lang="en-US" sz="1400" dirty="0"/>
          </a:p>
        </p:txBody>
      </p:sp>
      <p:sp>
        <p:nvSpPr>
          <p:cNvPr id="24" name="Card Нон"/>
          <p:cNvSpPr/>
          <p:nvPr/>
        </p:nvSpPr>
        <p:spPr>
          <a:xfrm>
            <a:off x="4297680" y="38862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 circle Нон"/>
          <p:cNvSpPr/>
          <p:nvPr/>
        </p:nvSpPr>
        <p:spPr>
          <a:xfrm>
            <a:off x="457200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 Нон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29768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40680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Нон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0" y="49834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Лепёшка — святыня стола: её никогда не кладут лицом вниз</a:t>
            </a:r>
            <a:endParaRPr lang="en-US" sz="1400" dirty="0"/>
          </a:p>
        </p:txBody>
      </p:sp>
      <p:sp>
        <p:nvSpPr>
          <p:cNvPr id="29" name="Card Чой"/>
          <p:cNvSpPr/>
          <p:nvPr/>
        </p:nvSpPr>
        <p:spPr>
          <a:xfrm>
            <a:off x="8046720" y="38862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 circle Чой"/>
          <p:cNvSpPr/>
          <p:nvPr/>
        </p:nvSpPr>
        <p:spPr>
          <a:xfrm>
            <a:off x="8321040" y="41605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on Чой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297680"/>
            <a:ext cx="411480" cy="41148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189720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Чой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8321040" y="49834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Чаепитие в чайхане — знак уважения и гостеприимства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Праздники</a:t>
            </a:r>
            <a:endParaRPr lang="en-US" sz="3600" dirty="0"/>
          </a:p>
        </p:txBody>
      </p:sp>
      <p:pic>
        <p:nvPicPr>
          <p:cNvPr id="3" name="Ros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411480"/>
            <a:ext cx="731520" cy="731520"/>
          </a:xfrm>
          <a:prstGeom prst="rect">
            <a:avLst/>
          </a:prstGeom>
        </p:spPr>
      </p:pic>
      <p:sp>
        <p:nvSpPr>
          <p:cNvPr id="4" name="Navruz panel"/>
          <p:cNvSpPr/>
          <p:nvPr/>
        </p:nvSpPr>
        <p:spPr>
          <a:xfrm>
            <a:off x="548640" y="1463040"/>
            <a:ext cx="4754880" cy="4663440"/>
          </a:xfrm>
          <a:prstGeom prst="roundRect">
            <a:avLst>
              <a:gd name="adj" fmla="val 294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Navruz rosette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3291840" y="4206240"/>
            <a:ext cx="1828800" cy="1828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1440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21–24 марта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22860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Наврӯз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32918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Главный праздник — Новый год и приход весны. Варят сумалак всю ночь, накрывают дастархан, проводят гӯштингирӣ (борьбу) и бузкаши</a:t>
            </a:r>
            <a:endParaRPr lang="en-US" sz="1500" dirty="0"/>
          </a:p>
        </p:txBody>
      </p:sp>
      <p:sp>
        <p:nvSpPr>
          <p:cNvPr id="9" name="Holiday icon circle 1"/>
          <p:cNvSpPr/>
          <p:nvPr/>
        </p:nvSpPr>
        <p:spPr>
          <a:xfrm>
            <a:off x="5852160" y="15361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Holiday icon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1655064"/>
            <a:ext cx="402336" cy="4023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20840" y="146304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9 сентября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686800" y="146304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независимости</a:t>
            </a:r>
            <a:endParaRPr lang="en-US" sz="1800" dirty="0"/>
          </a:p>
        </p:txBody>
      </p:sp>
      <p:sp>
        <p:nvSpPr>
          <p:cNvPr id="13" name="Holiday icon circle 2"/>
          <p:cNvSpPr/>
          <p:nvPr/>
        </p:nvSpPr>
        <p:spPr>
          <a:xfrm>
            <a:off x="5852160" y="2478024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Holiday icon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596896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720840" y="2404872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27 июня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8686800" y="240487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национального единства</a:t>
            </a:r>
            <a:endParaRPr lang="en-US" sz="1800" dirty="0"/>
          </a:p>
        </p:txBody>
      </p:sp>
      <p:sp>
        <p:nvSpPr>
          <p:cNvPr id="17" name="Holiday icon circle 3"/>
          <p:cNvSpPr/>
          <p:nvPr/>
        </p:nvSpPr>
        <p:spPr>
          <a:xfrm>
            <a:off x="5852160" y="341985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Holiday icon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3538728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720840" y="3346704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6 ноября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8686800" y="3346704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Конституции</a:t>
            </a:r>
            <a:endParaRPr lang="en-US" sz="1800" dirty="0"/>
          </a:p>
        </p:txBody>
      </p:sp>
      <p:sp>
        <p:nvSpPr>
          <p:cNvPr id="21" name="Holiday icon circle 4"/>
          <p:cNvSpPr/>
          <p:nvPr/>
        </p:nvSpPr>
        <p:spPr>
          <a:xfrm>
            <a:off x="5852160" y="4361688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Holiday icon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4480560"/>
            <a:ext cx="402336" cy="40233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20840" y="4288536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Осень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8686800" y="428853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Меҳргон — праздник урожая</a:t>
            </a:r>
            <a:endParaRPr lang="en-US" sz="1800" dirty="0"/>
          </a:p>
        </p:txBody>
      </p:sp>
      <p:sp>
        <p:nvSpPr>
          <p:cNvPr id="25" name="Holiday icon circle 5"/>
          <p:cNvSpPr/>
          <p:nvPr/>
        </p:nvSpPr>
        <p:spPr>
          <a:xfrm>
            <a:off x="5852160" y="5303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Holiday icon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1032" y="5422392"/>
            <a:ext cx="402336" cy="40233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720840" y="5230368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Конец января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8686800" y="5230368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Сада — древний праздник огня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Музыка, танец и ремёсла</a:t>
            </a:r>
            <a:endParaRPr lang="en-US" sz="3600" dirty="0"/>
          </a:p>
        </p:txBody>
      </p:sp>
      <p:pic>
        <p:nvPicPr>
          <p:cNvPr id="3" name="Ros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411480"/>
            <a:ext cx="731520" cy="731520"/>
          </a:xfrm>
          <a:prstGeom prst="rect">
            <a:avLst/>
          </a:prstGeom>
        </p:spPr>
      </p:pic>
      <p:sp>
        <p:nvSpPr>
          <p:cNvPr id="4" name="Card Шашмақом"/>
          <p:cNvSpPr/>
          <p:nvPr/>
        </p:nvSpPr>
        <p:spPr>
          <a:xfrm>
            <a:off x="548640" y="14630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Шашмақом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Шашмақом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7373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Шашмақом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560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Классическая музыка «шести макомов» — шедевр наследия ЮНЕСКО</a:t>
            </a:r>
            <a:endParaRPr lang="en-US" sz="1400" dirty="0"/>
          </a:p>
        </p:txBody>
      </p:sp>
      <p:sp>
        <p:nvSpPr>
          <p:cNvPr id="9" name="Card Рубоб и дутор"/>
          <p:cNvSpPr/>
          <p:nvPr/>
        </p:nvSpPr>
        <p:spPr>
          <a:xfrm>
            <a:off x="3364992" y="14630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Рубоб и дутор"/>
          <p:cNvSpPr/>
          <p:nvPr/>
        </p:nvSpPr>
        <p:spPr>
          <a:xfrm>
            <a:off x="3639312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 Рубоб и дутор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87452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07992" y="17373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Рубоб и дутор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639312" y="2560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Струнные инструменты, без которых не обходится ни один той</a:t>
            </a:r>
            <a:endParaRPr lang="en-US" sz="1400" dirty="0"/>
          </a:p>
        </p:txBody>
      </p:sp>
      <p:sp>
        <p:nvSpPr>
          <p:cNvPr id="14" name="Card Дойра"/>
          <p:cNvSpPr/>
          <p:nvPr/>
        </p:nvSpPr>
        <p:spPr>
          <a:xfrm>
            <a:off x="6181344" y="14630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Дойра"/>
          <p:cNvSpPr/>
          <p:nvPr/>
        </p:nvSpPr>
        <p:spPr>
          <a:xfrm>
            <a:off x="6455664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Дойр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18745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24344" y="17373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Дойра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455664" y="2560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Бубен задаёт ритм танцам — плавным женским и огненным мужским</a:t>
            </a:r>
            <a:endParaRPr lang="en-US" sz="1400" dirty="0"/>
          </a:p>
        </p:txBody>
      </p:sp>
      <p:sp>
        <p:nvSpPr>
          <p:cNvPr id="19" name="Card Сюзане"/>
          <p:cNvSpPr/>
          <p:nvPr/>
        </p:nvSpPr>
        <p:spPr>
          <a:xfrm>
            <a:off x="8997696" y="14630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 Сюзане"/>
          <p:cNvSpPr/>
          <p:nvPr/>
        </p:nvSpPr>
        <p:spPr>
          <a:xfrm>
            <a:off x="9272016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 Сюзане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9176" y="18745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140696" y="17373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Сюзане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9272016" y="2560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Вышитые покрывала с солнцами и цветами — оберег и приданое невесты</a:t>
            </a:r>
            <a:endParaRPr lang="en-US" sz="1400" dirty="0"/>
          </a:p>
        </p:txBody>
      </p:sp>
      <p:sp>
        <p:nvSpPr>
          <p:cNvPr id="24" name="Quote panel"/>
          <p:cNvSpPr/>
          <p:nvPr/>
        </p:nvSpPr>
        <p:spPr>
          <a:xfrm>
            <a:off x="548640" y="4526280"/>
            <a:ext cx="11091672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Quote rosett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800600"/>
            <a:ext cx="1005840" cy="10058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2148840" y="470916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«Фалак»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— горная песня-плач, «обращение к небу», и чеканка, резьба по дереву, гончарное дело Истаравшана и Худжанда хранят душу народа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Великие сыны народа</a:t>
            </a:r>
            <a:endParaRPr lang="en-US" sz="3600" dirty="0"/>
          </a:p>
        </p:txBody>
      </p:sp>
      <p:pic>
        <p:nvPicPr>
          <p:cNvPr id="3" name="Ros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411480"/>
            <a:ext cx="731520" cy="731520"/>
          </a:xfrm>
          <a:prstGeom prst="rect">
            <a:avLst/>
          </a:prstGeom>
        </p:spPr>
      </p:pic>
      <p:sp>
        <p:nvSpPr>
          <p:cNvPr id="4" name="Person card 1"/>
          <p:cNvSpPr/>
          <p:nvPr/>
        </p:nvSpPr>
        <p:spPr>
          <a:xfrm>
            <a:off x="548640" y="1554480"/>
            <a:ext cx="2057400" cy="4434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Person rosett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874520"/>
            <a:ext cx="1371600" cy="1371600"/>
          </a:xfrm>
          <a:prstGeom prst="rect">
            <a:avLst/>
          </a:prstGeom>
        </p:spPr>
      </p:pic>
      <p:sp>
        <p:nvSpPr>
          <p:cNvPr id="6" name="Initial circle 1"/>
          <p:cNvSpPr/>
          <p:nvPr/>
        </p:nvSpPr>
        <p:spPr>
          <a:xfrm>
            <a:off x="1170432" y="2148840"/>
            <a:ext cx="822960" cy="8229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70432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474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Абуабдуллоҳи Рӯдакӣ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4343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858–941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7548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Отец персидско-таджикской поэзии</a:t>
            </a:r>
            <a:endParaRPr lang="en-US" sz="1300" dirty="0"/>
          </a:p>
        </p:txBody>
      </p:sp>
      <p:sp>
        <p:nvSpPr>
          <p:cNvPr id="11" name="Person card 2"/>
          <p:cNvSpPr/>
          <p:nvPr/>
        </p:nvSpPr>
        <p:spPr>
          <a:xfrm>
            <a:off x="2788920" y="1554480"/>
            <a:ext cx="2057400" cy="4434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Person rosett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1874520"/>
            <a:ext cx="1371600" cy="1371600"/>
          </a:xfrm>
          <a:prstGeom prst="rect">
            <a:avLst/>
          </a:prstGeom>
        </p:spPr>
      </p:pic>
      <p:sp>
        <p:nvSpPr>
          <p:cNvPr id="13" name="Initial circle 2"/>
          <p:cNvSpPr/>
          <p:nvPr/>
        </p:nvSpPr>
        <p:spPr>
          <a:xfrm>
            <a:off x="3410712" y="2148840"/>
            <a:ext cx="822960" cy="8229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410712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</a:t>
            </a:r>
            <a:endParaRPr lang="en-US" sz="3000" dirty="0"/>
          </a:p>
        </p:txBody>
      </p:sp>
      <p:sp>
        <p:nvSpPr>
          <p:cNvPr id="15" name="Text 10"/>
          <p:cNvSpPr txBox="1"/>
          <p:nvPr/>
        </p:nvSpPr>
        <p:spPr>
          <a:xfrm>
            <a:off x="2926080" y="3474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Исмоили Сомонӣ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926080" y="4343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849–907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2926080" y="47548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Основатель державы Саманидов</a:t>
            </a:r>
            <a:endParaRPr lang="en-US" sz="1300" dirty="0"/>
          </a:p>
        </p:txBody>
      </p:sp>
      <p:sp>
        <p:nvSpPr>
          <p:cNvPr id="18" name="Person card 3"/>
          <p:cNvSpPr/>
          <p:nvPr/>
        </p:nvSpPr>
        <p:spPr>
          <a:xfrm>
            <a:off x="5029200" y="1554480"/>
            <a:ext cx="2057400" cy="4434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Person rosett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874520"/>
            <a:ext cx="1371600" cy="1371600"/>
          </a:xfrm>
          <a:prstGeom prst="rect">
            <a:avLst/>
          </a:prstGeom>
        </p:spPr>
      </p:pic>
      <p:sp>
        <p:nvSpPr>
          <p:cNvPr id="20" name="Initial circle 3"/>
          <p:cNvSpPr/>
          <p:nvPr/>
        </p:nvSpPr>
        <p:spPr>
          <a:xfrm>
            <a:off x="5650992" y="2148840"/>
            <a:ext cx="822960" cy="8229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650992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5166360" y="3474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Абӯалӣ ибни Сино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166360" y="4343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980–1037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166360" y="47548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Авиценна — «Канон врачебной науки»</a:t>
            </a:r>
            <a:endParaRPr lang="en-US" sz="1300" dirty="0"/>
          </a:p>
        </p:txBody>
      </p:sp>
      <p:sp>
        <p:nvSpPr>
          <p:cNvPr id="25" name="Person card 4"/>
          <p:cNvSpPr/>
          <p:nvPr/>
        </p:nvSpPr>
        <p:spPr>
          <a:xfrm>
            <a:off x="7269480" y="1554480"/>
            <a:ext cx="2057400" cy="4434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6" name="Person rosett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1874520"/>
            <a:ext cx="1371600" cy="1371600"/>
          </a:xfrm>
          <a:prstGeom prst="rect">
            <a:avLst/>
          </a:prstGeom>
        </p:spPr>
      </p:pic>
      <p:sp>
        <p:nvSpPr>
          <p:cNvPr id="27" name="Initial circle 4"/>
          <p:cNvSpPr/>
          <p:nvPr/>
        </p:nvSpPr>
        <p:spPr>
          <a:xfrm>
            <a:off x="7891272" y="2148840"/>
            <a:ext cx="822960" cy="8229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891272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</a:t>
            </a:r>
            <a:endParaRPr lang="en-US" sz="3000" dirty="0"/>
          </a:p>
        </p:txBody>
      </p:sp>
      <p:sp>
        <p:nvSpPr>
          <p:cNvPr id="29" name="Text 22"/>
          <p:cNvSpPr txBox="1"/>
          <p:nvPr/>
        </p:nvSpPr>
        <p:spPr>
          <a:xfrm>
            <a:off x="7406640" y="3474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Садриддин Айнӣ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7406640" y="4343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1878–1954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406640" y="47548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Основоположник современной таджикской литературы</a:t>
            </a:r>
            <a:endParaRPr lang="en-US" sz="1300" dirty="0"/>
          </a:p>
        </p:txBody>
      </p:sp>
      <p:sp>
        <p:nvSpPr>
          <p:cNvPr id="32" name="Person card 5"/>
          <p:cNvSpPr/>
          <p:nvPr/>
        </p:nvSpPr>
        <p:spPr>
          <a:xfrm>
            <a:off x="9509760" y="1554480"/>
            <a:ext cx="2057400" cy="4434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3" name="Person rosett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2" y="1874520"/>
            <a:ext cx="1371600" cy="1371600"/>
          </a:xfrm>
          <a:prstGeom prst="rect">
            <a:avLst/>
          </a:prstGeom>
        </p:spPr>
      </p:pic>
      <p:sp>
        <p:nvSpPr>
          <p:cNvPr id="34" name="Initial circle 5"/>
          <p:cNvSpPr/>
          <p:nvPr/>
        </p:nvSpPr>
        <p:spPr>
          <a:xfrm>
            <a:off x="10131552" y="2148840"/>
            <a:ext cx="822960" cy="8229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10131552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</a:t>
            </a:r>
            <a:endParaRPr lang="en-US" sz="3000" dirty="0"/>
          </a:p>
        </p:txBody>
      </p:sp>
      <p:sp>
        <p:nvSpPr>
          <p:cNvPr id="36" name="Text 28"/>
          <p:cNvSpPr txBox="1"/>
          <p:nvPr/>
        </p:nvSpPr>
        <p:spPr>
          <a:xfrm>
            <a:off x="9646920" y="3474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Мирзо Турсунзода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9646920" y="4343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1911–1977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9646920" y="47548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Народный поэт, Герой Таджикистана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Что посмотреть</a:t>
            </a:r>
            <a:endParaRPr lang="en-US" sz="3600" dirty="0"/>
          </a:p>
        </p:txBody>
      </p:sp>
      <p:pic>
        <p:nvPicPr>
          <p:cNvPr id="3" name="Ros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411480"/>
            <a:ext cx="731520" cy="731520"/>
          </a:xfrm>
          <a:prstGeom prst="rect">
            <a:avLst/>
          </a:prstGeom>
        </p:spPr>
      </p:pic>
      <p:sp>
        <p:nvSpPr>
          <p:cNvPr id="4" name="Card Саразм"/>
          <p:cNvSpPr/>
          <p:nvPr/>
        </p:nvSpPr>
        <p:spPr>
          <a:xfrm>
            <a:off x="54864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Саразм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 Саразм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737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Саразм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Древний город возрастом 5 500 лет — объект ЮНЕСКО (2010)</a:t>
            </a:r>
            <a:endParaRPr lang="en-US" sz="1400" dirty="0"/>
          </a:p>
        </p:txBody>
      </p:sp>
      <p:sp>
        <p:nvSpPr>
          <p:cNvPr id="9" name="Card Таджикский нацпарк"/>
          <p:cNvSpPr/>
          <p:nvPr/>
        </p:nvSpPr>
        <p:spPr>
          <a:xfrm>
            <a:off x="429768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Таджикский нацпарк"/>
          <p:cNvSpPr/>
          <p:nvPr/>
        </p:nvSpPr>
        <p:spPr>
          <a:xfrm>
            <a:off x="457200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Таджикский нацпарк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7452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737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Таджикский нацпарк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«Горы Памира» — природное наследие ЮНЕСКО (2013)</a:t>
            </a:r>
            <a:endParaRPr lang="en-US" sz="1400" dirty="0"/>
          </a:p>
        </p:txBody>
      </p:sp>
      <p:sp>
        <p:nvSpPr>
          <p:cNvPr id="14" name="Card Гиссарская крепость"/>
          <p:cNvSpPr/>
          <p:nvPr/>
        </p:nvSpPr>
        <p:spPr>
          <a:xfrm>
            <a:off x="804672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Гиссарская крепость"/>
          <p:cNvSpPr/>
          <p:nvPr/>
        </p:nvSpPr>
        <p:spPr>
          <a:xfrm>
            <a:off x="832104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 Гиссарская крепость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8745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89720" y="1737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Гиссарская крепость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Ворота XVIII века, медресе и караван-сарай рядом с Душанбе</a:t>
            </a:r>
            <a:endParaRPr lang="en-US" sz="1400" dirty="0"/>
          </a:p>
        </p:txBody>
      </p:sp>
      <p:sp>
        <p:nvSpPr>
          <p:cNvPr id="19" name="Card Искандеркуль"/>
          <p:cNvSpPr/>
          <p:nvPr/>
        </p:nvSpPr>
        <p:spPr>
          <a:xfrm>
            <a:off x="548640" y="38862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 Искандеркуль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 Искандеркуль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976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91640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Искандеркуль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49834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Бирюзовое озеро в Фанских горах, связанное с легендой об Александре</a:t>
            </a:r>
            <a:endParaRPr lang="en-US" sz="1400" dirty="0"/>
          </a:p>
        </p:txBody>
      </p:sp>
      <p:sp>
        <p:nvSpPr>
          <p:cNvPr id="24" name="Card Нурекская ГЭС"/>
          <p:cNvSpPr/>
          <p:nvPr/>
        </p:nvSpPr>
        <p:spPr>
          <a:xfrm>
            <a:off x="4297680" y="38862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 circle Нурекская ГЭС"/>
          <p:cNvSpPr/>
          <p:nvPr/>
        </p:nvSpPr>
        <p:spPr>
          <a:xfrm>
            <a:off x="4572000" y="41605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con Нурекская ГЭС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29768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40680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Нурекская ГЭС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0" y="49834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Плотина высотой 300 м — одна из высочайших в мире</a:t>
            </a:r>
            <a:endParaRPr lang="en-US" sz="1400" dirty="0"/>
          </a:p>
        </p:txBody>
      </p:sp>
      <p:sp>
        <p:nvSpPr>
          <p:cNvPr id="29" name="Card Душанбе"/>
          <p:cNvSpPr/>
          <p:nvPr/>
        </p:nvSpPr>
        <p:spPr>
          <a:xfrm>
            <a:off x="8046720" y="38862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 circle Душанбе"/>
          <p:cNvSpPr/>
          <p:nvPr/>
        </p:nvSpPr>
        <p:spPr>
          <a:xfrm>
            <a:off x="832104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 Душанбе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297680"/>
            <a:ext cx="411480" cy="41148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189720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Душанбе</a:t>
            </a:r>
            <a:endParaRPr lang="en-US" sz="1700" dirty="0"/>
          </a:p>
        </p:txBody>
      </p:sp>
      <p:sp>
        <p:nvSpPr>
          <p:cNvPr id="33" name="Text 24"/>
          <p:cNvSpPr txBox="1"/>
          <p:nvPr/>
        </p:nvSpPr>
        <p:spPr>
          <a:xfrm>
            <a:off x="8321040" y="49834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Флагшток 165 м, дворец «Навруз», библиотека и парк Рудаки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ros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50292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3434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Ташаккур барои диққат!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3"/>
                </a:solidFill>
              </a:rPr>
              <a:t>Спасибо за внимание!  ·  Тоҷикистон — диёри офтоб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jikistan National">
  <a:themeElements>
    <a:clrScheme name="Tajikistan National">
      <a:dk1>
        <a:srgbClr val="1F1A17"/>
      </a:dk1>
      <a:lt1>
        <a:srgbClr val="FFFFFF"/>
      </a:lt1>
      <a:dk2>
        <a:srgbClr val="0E3B2E"/>
      </a:dk2>
      <a:lt2>
        <a:srgbClr val="F1F4F0"/>
      </a:lt2>
      <a:accent1>
        <a:srgbClr val="C8102E"/>
      </a:accent1>
      <a:accent2>
        <a:srgbClr val="0E6B3A"/>
      </a:accent2>
      <a:accent3>
        <a:srgbClr val="D4A017"/>
      </a:accent3>
      <a:accent4>
        <a:srgbClr val="8A1C1C"/>
      </a:accent4>
      <a:accent5>
        <a:srgbClr val="2E7D5B"/>
      </a:accent5>
      <a:accent6>
        <a:srgbClr val="6B6B6B"/>
      </a:accent6>
      <a:hlink>
        <a:srgbClr val="0E6B3A"/>
      </a:hlink>
      <a:folHlink>
        <a:srgbClr val="8A1C1C"/>
      </a:folHlink>
    </a:clrScheme>
    <a:fontScheme name="Tajikistan Natio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Таджикистан — национальная презентация</dc:title>
  <dc:subject>PptxGenJS Presentation</dc:subject>
  <dc:creator>Alijon Yunusov</dc:creator>
  <cp:lastModifiedBy>Alijon Yunusov</cp:lastModifiedBy>
  <cp:revision>1</cp:revision>
  <dcterms:created xsi:type="dcterms:W3CDTF">2026-10-26T08:16:47Z</dcterms:created>
  <dcterms:modified xsi:type="dcterms:W3CDTF">2026-10-26T08:16:47Z</dcterms:modified>
</cp:coreProperties>
</file>